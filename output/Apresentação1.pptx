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6"/>
  </p:notesMasterIdLst>
  <p:sldIdLst>
    <p:sldId id="256" r:id="rId2"/>
    <p:sldId id="260" r:id="rId3"/>
    <p:sldId id="259" r:id="rId4"/>
    <p:sldId id="265" r:id="rId5"/>
    <p:sldId id="261" r:id="rId6"/>
    <p:sldId id="266" r:id="rId7"/>
    <p:sldId id="262" r:id="rId8"/>
    <p:sldId id="267" r:id="rId9"/>
    <p:sldId id="263" r:id="rId10"/>
    <p:sldId id="268" r:id="rId11"/>
    <p:sldId id="264" r:id="rId12"/>
    <p:sldId id="269" r:id="rId13"/>
    <p:sldId id="284" r:id="rId14"/>
    <p:sldId id="283" r:id="rId15"/>
  </p:sldIdLst>
  <p:sldSz cx="9601200" cy="12801600" type="A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32" userDrawn="1">
          <p15:clr>
            <a:srgbClr val="A4A3A4"/>
          </p15:clr>
        </p15:guide>
        <p15:guide id="2" pos="302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EEDF"/>
    <a:srgbClr val="14534D"/>
    <a:srgbClr val="1C59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51" d="100"/>
          <a:sy n="51" d="100"/>
        </p:scale>
        <p:origin x="1140" y="126"/>
      </p:cViewPr>
      <p:guideLst>
        <p:guide orient="horz" pos="4032"/>
        <p:guide pos="302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3429CE-E161-4DE6-8D3F-EF53C04D2C0B}" type="datetimeFigureOut">
              <a:rPr lang="pt-BR" smtClean="0"/>
              <a:t>22/10/2025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B0659E-B507-46F6-A422-B6EE4DDC85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86447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0090" y="2095078"/>
            <a:ext cx="8161020" cy="4456853"/>
          </a:xfrm>
        </p:spPr>
        <p:txBody>
          <a:bodyPr anchor="b"/>
          <a:lstStyle>
            <a:lvl1pPr algn="ctr">
              <a:defRPr sz="63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00150" y="6723804"/>
            <a:ext cx="7200900" cy="3090756"/>
          </a:xfrm>
        </p:spPr>
        <p:txBody>
          <a:bodyPr/>
          <a:lstStyle>
            <a:lvl1pPr marL="0" indent="0" algn="ctr">
              <a:buNone/>
              <a:defRPr sz="2520"/>
            </a:lvl1pPr>
            <a:lvl2pPr marL="480060" indent="0" algn="ctr">
              <a:buNone/>
              <a:defRPr sz="2100"/>
            </a:lvl2pPr>
            <a:lvl3pPr marL="960120" indent="0" algn="ctr">
              <a:buNone/>
              <a:defRPr sz="1890"/>
            </a:lvl3pPr>
            <a:lvl4pPr marL="1440180" indent="0" algn="ctr">
              <a:buNone/>
              <a:defRPr sz="1680"/>
            </a:lvl4pPr>
            <a:lvl5pPr marL="1920240" indent="0" algn="ctr">
              <a:buNone/>
              <a:defRPr sz="1680"/>
            </a:lvl5pPr>
            <a:lvl6pPr marL="2400300" indent="0" algn="ctr">
              <a:buNone/>
              <a:defRPr sz="1680"/>
            </a:lvl6pPr>
            <a:lvl7pPr marL="2880360" indent="0" algn="ctr">
              <a:buNone/>
              <a:defRPr sz="1680"/>
            </a:lvl7pPr>
            <a:lvl8pPr marL="3360420" indent="0" algn="ctr">
              <a:buNone/>
              <a:defRPr sz="1680"/>
            </a:lvl8pPr>
            <a:lvl9pPr marL="3840480" indent="0" algn="ctr">
              <a:buNone/>
              <a:defRPr sz="168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63C33-705D-495F-B2CA-AA7B9C42606A}" type="datetime1">
              <a:rPr lang="pt-BR" smtClean="0"/>
              <a:t>22/10/2025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INFORMÁTICA BÁSICA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BE0DC-FC07-44B3-B5A7-80B04645CF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5045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3EF72-E0C1-446B-9214-7C401A74824E}" type="datetime1">
              <a:rPr lang="pt-BR" smtClean="0"/>
              <a:t>22/10/2025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INFORMÁTICA BÁSICA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BE0DC-FC07-44B3-B5A7-80B04645CF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56782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082" y="3191514"/>
            <a:ext cx="8281035" cy="5325109"/>
          </a:xfrm>
        </p:spPr>
        <p:txBody>
          <a:bodyPr anchor="b"/>
          <a:lstStyle>
            <a:lvl1pPr>
              <a:defRPr sz="63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5082" y="8567000"/>
            <a:ext cx="8281035" cy="2800349"/>
          </a:xfrm>
        </p:spPr>
        <p:txBody>
          <a:bodyPr/>
          <a:lstStyle>
            <a:lvl1pPr marL="0" indent="0">
              <a:buNone/>
              <a:defRPr sz="2520">
                <a:solidFill>
                  <a:schemeClr val="tx1"/>
                </a:solidFill>
              </a:defRPr>
            </a:lvl1pPr>
            <a:lvl2pPr marL="48006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2pPr>
            <a:lvl3pPr marL="960120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3pPr>
            <a:lvl4pPr marL="14401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19202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4003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28803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3604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D99F7-A21F-429F-B2C6-B5993DDDBB88}" type="datetime1">
              <a:rPr lang="pt-BR" smtClean="0"/>
              <a:t>22/10/2025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INFORMÁTICA BÁSICA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BE0DC-FC07-44B3-B5A7-80B04645CF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22935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083" y="3407833"/>
            <a:ext cx="4080510" cy="812249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60608" y="3407833"/>
            <a:ext cx="4080510" cy="812249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B1678-D21B-45F7-94E9-B32B9CAE859F}" type="datetime1">
              <a:rPr lang="pt-BR" smtClean="0"/>
              <a:t>22/10/2025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INFORMÁTICA BÁSICA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BE0DC-FC07-44B3-B5A7-80B04645CF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756996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681570"/>
            <a:ext cx="8281035" cy="2474384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1334" y="3138171"/>
            <a:ext cx="4061757" cy="1537969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80060" indent="0">
              <a:buNone/>
              <a:defRPr sz="2100" b="1"/>
            </a:lvl2pPr>
            <a:lvl3pPr marL="960120" indent="0">
              <a:buNone/>
              <a:defRPr sz="1890" b="1"/>
            </a:lvl3pPr>
            <a:lvl4pPr marL="1440180" indent="0">
              <a:buNone/>
              <a:defRPr sz="1680" b="1"/>
            </a:lvl4pPr>
            <a:lvl5pPr marL="1920240" indent="0">
              <a:buNone/>
              <a:defRPr sz="1680" b="1"/>
            </a:lvl5pPr>
            <a:lvl6pPr marL="2400300" indent="0">
              <a:buNone/>
              <a:defRPr sz="1680" b="1"/>
            </a:lvl6pPr>
            <a:lvl7pPr marL="2880360" indent="0">
              <a:buNone/>
              <a:defRPr sz="1680" b="1"/>
            </a:lvl7pPr>
            <a:lvl8pPr marL="3360420" indent="0">
              <a:buNone/>
              <a:defRPr sz="1680" b="1"/>
            </a:lvl8pPr>
            <a:lvl9pPr marL="3840480" indent="0">
              <a:buNone/>
              <a:defRPr sz="168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1334" y="4676140"/>
            <a:ext cx="4061757" cy="687789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0608" y="3138171"/>
            <a:ext cx="4081761" cy="1537969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80060" indent="0">
              <a:buNone/>
              <a:defRPr sz="2100" b="1"/>
            </a:lvl2pPr>
            <a:lvl3pPr marL="960120" indent="0">
              <a:buNone/>
              <a:defRPr sz="1890" b="1"/>
            </a:lvl3pPr>
            <a:lvl4pPr marL="1440180" indent="0">
              <a:buNone/>
              <a:defRPr sz="1680" b="1"/>
            </a:lvl4pPr>
            <a:lvl5pPr marL="1920240" indent="0">
              <a:buNone/>
              <a:defRPr sz="1680" b="1"/>
            </a:lvl5pPr>
            <a:lvl6pPr marL="2400300" indent="0">
              <a:buNone/>
              <a:defRPr sz="1680" b="1"/>
            </a:lvl6pPr>
            <a:lvl7pPr marL="2880360" indent="0">
              <a:buNone/>
              <a:defRPr sz="1680" b="1"/>
            </a:lvl7pPr>
            <a:lvl8pPr marL="3360420" indent="0">
              <a:buNone/>
              <a:defRPr sz="1680" b="1"/>
            </a:lvl8pPr>
            <a:lvl9pPr marL="3840480" indent="0">
              <a:buNone/>
              <a:defRPr sz="168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60608" y="4676140"/>
            <a:ext cx="4081761" cy="687789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6A822-7454-49D2-A3FF-5A3279A10427}" type="datetime1">
              <a:rPr lang="pt-BR" smtClean="0"/>
              <a:t>22/10/2025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INFORMÁTICA BÁSICA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BE0DC-FC07-44B3-B5A7-80B04645CF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1303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F30E5-2B30-4885-8259-9D8B68214018}" type="datetime1">
              <a:rPr lang="pt-BR" smtClean="0"/>
              <a:t>22/10/2025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INFORMÁTICA BÁSICA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BE0DC-FC07-44B3-B5A7-80B04645CF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831229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909C1-C13F-4E93-AC35-B07ECBE5D14B}" type="datetime1">
              <a:rPr lang="pt-BR" smtClean="0"/>
              <a:t>22/10/2025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INFORMÁTICA BÁSICA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BE0DC-FC07-44B3-B5A7-80B04645CF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28150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853440"/>
            <a:ext cx="3096637" cy="2987040"/>
          </a:xfrm>
        </p:spPr>
        <p:txBody>
          <a:bodyPr anchor="b"/>
          <a:lstStyle>
            <a:lvl1pPr>
              <a:defRPr sz="336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1760" y="1843196"/>
            <a:ext cx="4860608" cy="9097433"/>
          </a:xfrm>
        </p:spPr>
        <p:txBody>
          <a:bodyPr/>
          <a:lstStyle>
            <a:lvl1pPr>
              <a:defRPr sz="3360"/>
            </a:lvl1pPr>
            <a:lvl2pPr>
              <a:defRPr sz="2940"/>
            </a:lvl2pPr>
            <a:lvl3pPr>
              <a:defRPr sz="252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3840480"/>
            <a:ext cx="3096637" cy="7114964"/>
          </a:xfrm>
        </p:spPr>
        <p:txBody>
          <a:bodyPr/>
          <a:lstStyle>
            <a:lvl1pPr marL="0" indent="0">
              <a:buNone/>
              <a:defRPr sz="1680"/>
            </a:lvl1pPr>
            <a:lvl2pPr marL="480060" indent="0">
              <a:buNone/>
              <a:defRPr sz="1470"/>
            </a:lvl2pPr>
            <a:lvl3pPr marL="960120" indent="0">
              <a:buNone/>
              <a:defRPr sz="1260"/>
            </a:lvl3pPr>
            <a:lvl4pPr marL="1440180" indent="0">
              <a:buNone/>
              <a:defRPr sz="1050"/>
            </a:lvl4pPr>
            <a:lvl5pPr marL="1920240" indent="0">
              <a:buNone/>
              <a:defRPr sz="1050"/>
            </a:lvl5pPr>
            <a:lvl6pPr marL="2400300" indent="0">
              <a:buNone/>
              <a:defRPr sz="1050"/>
            </a:lvl6pPr>
            <a:lvl7pPr marL="2880360" indent="0">
              <a:buNone/>
              <a:defRPr sz="1050"/>
            </a:lvl7pPr>
            <a:lvl8pPr marL="3360420" indent="0">
              <a:buNone/>
              <a:defRPr sz="1050"/>
            </a:lvl8pPr>
            <a:lvl9pPr marL="3840480" indent="0">
              <a:buNone/>
              <a:defRPr sz="10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0A5BC-B635-41DA-82CC-0614F949A111}" type="datetime1">
              <a:rPr lang="pt-BR" smtClean="0"/>
              <a:t>22/10/2025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INFORMÁTICA BÁSICA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BE0DC-FC07-44B3-B5A7-80B04645CF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291062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853440"/>
            <a:ext cx="3096637" cy="2987040"/>
          </a:xfrm>
        </p:spPr>
        <p:txBody>
          <a:bodyPr anchor="b"/>
          <a:lstStyle>
            <a:lvl1pPr>
              <a:defRPr sz="336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081760" y="1843196"/>
            <a:ext cx="4860608" cy="9097433"/>
          </a:xfrm>
        </p:spPr>
        <p:txBody>
          <a:bodyPr anchor="t"/>
          <a:lstStyle>
            <a:lvl1pPr marL="0" indent="0">
              <a:buNone/>
              <a:defRPr sz="3360"/>
            </a:lvl1pPr>
            <a:lvl2pPr marL="480060" indent="0">
              <a:buNone/>
              <a:defRPr sz="2940"/>
            </a:lvl2pPr>
            <a:lvl3pPr marL="960120" indent="0">
              <a:buNone/>
              <a:defRPr sz="2520"/>
            </a:lvl3pPr>
            <a:lvl4pPr marL="1440180" indent="0">
              <a:buNone/>
              <a:defRPr sz="2100"/>
            </a:lvl4pPr>
            <a:lvl5pPr marL="1920240" indent="0">
              <a:buNone/>
              <a:defRPr sz="2100"/>
            </a:lvl5pPr>
            <a:lvl6pPr marL="2400300" indent="0">
              <a:buNone/>
              <a:defRPr sz="2100"/>
            </a:lvl6pPr>
            <a:lvl7pPr marL="2880360" indent="0">
              <a:buNone/>
              <a:defRPr sz="2100"/>
            </a:lvl7pPr>
            <a:lvl8pPr marL="3360420" indent="0">
              <a:buNone/>
              <a:defRPr sz="2100"/>
            </a:lvl8pPr>
            <a:lvl9pPr marL="3840480" indent="0">
              <a:buNone/>
              <a:defRPr sz="21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3840480"/>
            <a:ext cx="3096637" cy="7114964"/>
          </a:xfrm>
        </p:spPr>
        <p:txBody>
          <a:bodyPr/>
          <a:lstStyle>
            <a:lvl1pPr marL="0" indent="0">
              <a:buNone/>
              <a:defRPr sz="1680"/>
            </a:lvl1pPr>
            <a:lvl2pPr marL="480060" indent="0">
              <a:buNone/>
              <a:defRPr sz="1470"/>
            </a:lvl2pPr>
            <a:lvl3pPr marL="960120" indent="0">
              <a:buNone/>
              <a:defRPr sz="1260"/>
            </a:lvl3pPr>
            <a:lvl4pPr marL="1440180" indent="0">
              <a:buNone/>
              <a:defRPr sz="1050"/>
            </a:lvl4pPr>
            <a:lvl5pPr marL="1920240" indent="0">
              <a:buNone/>
              <a:defRPr sz="1050"/>
            </a:lvl5pPr>
            <a:lvl6pPr marL="2400300" indent="0">
              <a:buNone/>
              <a:defRPr sz="1050"/>
            </a:lvl6pPr>
            <a:lvl7pPr marL="2880360" indent="0">
              <a:buNone/>
              <a:defRPr sz="1050"/>
            </a:lvl7pPr>
            <a:lvl8pPr marL="3360420" indent="0">
              <a:buNone/>
              <a:defRPr sz="1050"/>
            </a:lvl8pPr>
            <a:lvl9pPr marL="3840480" indent="0">
              <a:buNone/>
              <a:defRPr sz="10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83B43-5868-489D-9C86-B04493EF57EA}" type="datetime1">
              <a:rPr lang="pt-BR" smtClean="0"/>
              <a:t>22/10/2025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INFORMÁTICA BÁSICA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BE0DC-FC07-44B3-B5A7-80B04645CF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893590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F1F32-3C9E-435D-99F0-A2CD51A9DEE6}" type="datetime1">
              <a:rPr lang="pt-BR" smtClean="0"/>
              <a:t>22/10/2025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INFORMÁTICA BÁSICA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BE0DC-FC07-44B3-B5A7-80B04645CF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10783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0859" y="681567"/>
            <a:ext cx="2070259" cy="10848764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60083" y="681567"/>
            <a:ext cx="6090761" cy="10848764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03795-90FB-47A8-9C86-6119A0A4C0E5}" type="datetime1">
              <a:rPr lang="pt-BR" smtClean="0"/>
              <a:t>22/10/2025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INFORMÁTICA BÁSICA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BE0DC-FC07-44B3-B5A7-80B04645CF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73619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0083" y="681570"/>
            <a:ext cx="8281035" cy="24743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0083" y="3407833"/>
            <a:ext cx="8281035" cy="81224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0083" y="11865189"/>
            <a:ext cx="216027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799CF3-AF1A-4F4C-BEE2-689DD7934C23}" type="datetime1">
              <a:rPr lang="pt-BR" smtClean="0"/>
              <a:t>22/10/2025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80398" y="11865189"/>
            <a:ext cx="3240405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pt-BR"/>
              <a:t>INFORMÁTICA BÁSICA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80848" y="11865189"/>
            <a:ext cx="216027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1BE0DC-FC07-44B3-B5A7-80B04645CF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512994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60120" rtl="0" eaLnBrk="1" latinLnBrk="0" hangingPunct="1">
        <a:lnSpc>
          <a:spcPct val="90000"/>
        </a:lnSpc>
        <a:spcBef>
          <a:spcPct val="0"/>
        </a:spcBef>
        <a:buNone/>
        <a:defRPr sz="46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0030" indent="-240030" algn="l" defTabSz="960120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2940" kern="1200">
          <a:solidFill>
            <a:schemeClr val="tx1"/>
          </a:solidFill>
          <a:latin typeface="+mn-lt"/>
          <a:ea typeface="+mn-ea"/>
          <a:cs typeface="+mn-cs"/>
        </a:defRPr>
      </a:lvl1pPr>
      <a:lvl2pPr marL="7200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001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802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216027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64033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31203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6004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40805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1pPr>
      <a:lvl2pPr marL="4800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601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4401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2024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40030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803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3604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8404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github.com/leoaugustofp-oss/prompts-recipe-to-create-a-ebook" TargetMode="External"/><Relationship Id="rId1" Type="http://schemas.openxmlformats.org/officeDocument/2006/relationships/slideLayout" Target="../slideLayouts/slideLayout7.xml"/><Relationship Id="rId4" Type="http://schemas.microsoft.com/office/2007/relationships/hdphoto" Target="../media/hdphoto2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tângulo 11">
            <a:extLst>
              <a:ext uri="{FF2B5EF4-FFF2-40B4-BE49-F238E27FC236}">
                <a16:creationId xmlns:a16="http://schemas.microsoft.com/office/drawing/2014/main" id="{F9054403-00AE-2EAE-FBD8-B04B25A0631C}"/>
              </a:ext>
            </a:extLst>
          </p:cNvPr>
          <p:cNvSpPr/>
          <p:nvPr/>
        </p:nvSpPr>
        <p:spPr>
          <a:xfrm>
            <a:off x="0" y="0"/>
            <a:ext cx="9601200" cy="12801600"/>
          </a:xfrm>
          <a:prstGeom prst="rect">
            <a:avLst/>
          </a:prstGeom>
          <a:solidFill>
            <a:srgbClr val="F8EED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noFill/>
            </a:endParaRP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12C7C31F-7992-D9C8-F72E-7B2824502A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45257"/>
            <a:ext cx="9601200" cy="9601200"/>
          </a:xfrm>
          <a:prstGeom prst="rect">
            <a:avLst/>
          </a:prstGeom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9DCFB4CC-26D1-A783-4B59-8EF9BA9F844A}"/>
              </a:ext>
            </a:extLst>
          </p:cNvPr>
          <p:cNvSpPr txBox="1"/>
          <p:nvPr/>
        </p:nvSpPr>
        <p:spPr>
          <a:xfrm>
            <a:off x="1781355" y="153650"/>
            <a:ext cx="603849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800" b="1" dirty="0">
                <a:effectLst>
                  <a:glow rad="139700">
                    <a:schemeClr val="accent6">
                      <a:alpha val="40000"/>
                    </a:schemeClr>
                  </a:glow>
                </a:effectLst>
                <a:latin typeface="Data 70" panose="02000506020000020004" pitchFamily="2" charset="0"/>
              </a:rPr>
              <a:t>Dexter Digital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B346B3A7-3F6E-A01A-A6A8-E25E6249DDD8}"/>
              </a:ext>
            </a:extLst>
          </p:cNvPr>
          <p:cNvSpPr txBox="1"/>
          <p:nvPr/>
        </p:nvSpPr>
        <p:spPr>
          <a:xfrm>
            <a:off x="2406770" y="1945257"/>
            <a:ext cx="47876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latin typeface="Impact" panose="020B0806030902050204" pitchFamily="34" charset="0"/>
              </a:rPr>
              <a:t>A REVOLUÇÃO DA INFORMÁTICA NA EDUCAÇÃO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3289A84-045A-4257-05AE-D6613595A1B0}"/>
              </a:ext>
            </a:extLst>
          </p:cNvPr>
          <p:cNvSpPr txBox="1"/>
          <p:nvPr/>
        </p:nvSpPr>
        <p:spPr>
          <a:xfrm>
            <a:off x="2794957" y="11789308"/>
            <a:ext cx="401128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b="1" dirty="0">
                <a:effectLst>
                  <a:glow rad="139700">
                    <a:schemeClr val="accent6">
                      <a:alpha val="40000"/>
                    </a:schemeClr>
                  </a:glow>
                </a:effectLst>
                <a:latin typeface="Data 70" panose="02000506020000020004" pitchFamily="2" charset="0"/>
              </a:rPr>
              <a:t>Leonardo Augusto</a:t>
            </a:r>
          </a:p>
        </p:txBody>
      </p:sp>
    </p:spTree>
    <p:extLst>
      <p:ext uri="{BB962C8B-B14F-4D97-AF65-F5344CB8AC3E}">
        <p14:creationId xmlns:p14="http://schemas.microsoft.com/office/powerpoint/2010/main" val="32579628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F3E465-0A67-3069-6F96-8BBA8574C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0640B185-F4DB-9BC8-20F2-9A4E98CDBAE6}"/>
              </a:ext>
            </a:extLst>
          </p:cNvPr>
          <p:cNvSpPr/>
          <p:nvPr/>
        </p:nvSpPr>
        <p:spPr>
          <a:xfrm>
            <a:off x="0" y="0"/>
            <a:ext cx="9612000" cy="12856182"/>
          </a:xfrm>
          <a:prstGeom prst="rect">
            <a:avLst/>
          </a:prstGeom>
          <a:solidFill>
            <a:srgbClr val="F8EED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50B85EFD-2A8A-74ED-375F-D75DFACEB283}"/>
              </a:ext>
            </a:extLst>
          </p:cNvPr>
          <p:cNvSpPr txBox="1">
            <a:spLocks/>
          </p:cNvSpPr>
          <p:nvPr/>
        </p:nvSpPr>
        <p:spPr>
          <a:xfrm>
            <a:off x="1124593" y="4023548"/>
            <a:ext cx="8281035" cy="24743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6012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2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400" dirty="0">
                <a:latin typeface="+mn-lt"/>
              </a:rPr>
              <a:t>Informática Básica para Iniciantes: Seus Primeiros Passos no Mundo Digital Bem-vindo(a) ao mundo da informática! Se você está começando agora, este guia rápido e simples foi feito para você. Vamos desvendar os principais itens da informática básica, com exemplos práticos do seu dia a dia.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2479C808-9806-1D9D-EF59-E8424AD65FFE}"/>
              </a:ext>
            </a:extLst>
          </p:cNvPr>
          <p:cNvSpPr txBox="1">
            <a:spLocks/>
          </p:cNvSpPr>
          <p:nvPr/>
        </p:nvSpPr>
        <p:spPr>
          <a:xfrm>
            <a:off x="1124593" y="93644"/>
            <a:ext cx="7863764" cy="202335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6012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2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4000" dirty="0">
                <a:latin typeface="Impact" panose="020B0806030902050204" pitchFamily="34" charset="0"/>
              </a:rPr>
              <a:t>Informática Básica</a:t>
            </a: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8E8C983A-B605-C77C-CF9B-25895BE8179E}"/>
              </a:ext>
            </a:extLst>
          </p:cNvPr>
          <p:cNvSpPr txBox="1">
            <a:spLocks/>
          </p:cNvSpPr>
          <p:nvPr/>
        </p:nvSpPr>
        <p:spPr>
          <a:xfrm>
            <a:off x="1141649" y="1440000"/>
            <a:ext cx="8281035" cy="24743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6012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2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200"/>
              <a:t>Seus Primeiros Passos no Mundo Digital</a:t>
            </a:r>
            <a:endParaRPr lang="pt-BR" sz="3200" dirty="0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C0A80305-C196-E82E-A9A6-B2A6D520F574}"/>
              </a:ext>
            </a:extLst>
          </p:cNvPr>
          <p:cNvSpPr/>
          <p:nvPr/>
        </p:nvSpPr>
        <p:spPr>
          <a:xfrm>
            <a:off x="891133" y="0"/>
            <a:ext cx="72000" cy="14400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75000"/>
                </a:schemeClr>
              </a:gs>
              <a:gs pos="60000">
                <a:schemeClr val="accent1">
                  <a:lumMod val="45000"/>
                  <a:lumOff val="55000"/>
                </a:schemeClr>
              </a:gs>
              <a:gs pos="100000">
                <a:srgbClr val="0070C0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FCBC8A51-A0E4-4FEF-B8F1-DA3951033F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1871" y="7950168"/>
            <a:ext cx="7359021" cy="4906014"/>
          </a:xfrm>
          <a:prstGeom prst="rect">
            <a:avLst/>
          </a:prstGeom>
        </p:spPr>
      </p:pic>
      <p:sp>
        <p:nvSpPr>
          <p:cNvPr id="13" name="Espaço Reservado para Rodapé 12">
            <a:extLst>
              <a:ext uri="{FF2B5EF4-FFF2-40B4-BE49-F238E27FC236}">
                <a16:creationId xmlns:a16="http://schemas.microsoft.com/office/drawing/2014/main" id="{B32B0E72-4852-CCBC-8813-7D4EEBB04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INFORMÁTICA BÁSICA</a:t>
            </a:r>
          </a:p>
        </p:txBody>
      </p:sp>
      <p:sp>
        <p:nvSpPr>
          <p:cNvPr id="14" name="Espaço Reservado para Número de Slide 13">
            <a:extLst>
              <a:ext uri="{FF2B5EF4-FFF2-40B4-BE49-F238E27FC236}">
                <a16:creationId xmlns:a16="http://schemas.microsoft.com/office/drawing/2014/main" id="{2613FFE1-6C98-776A-FE9E-F2CD24AAF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BE0DC-FC07-44B3-B5A7-80B04645CF34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420829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8DA214-596C-2AFB-C62B-058235063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EDB6A161-4CD9-C4B8-10F9-E55160C60928}"/>
              </a:ext>
            </a:extLst>
          </p:cNvPr>
          <p:cNvSpPr/>
          <p:nvPr/>
        </p:nvSpPr>
        <p:spPr>
          <a:xfrm>
            <a:off x="0" y="0"/>
            <a:ext cx="9601200" cy="12801600"/>
          </a:xfrm>
          <a:prstGeom prst="rect">
            <a:avLst/>
          </a:prstGeom>
          <a:solidFill>
            <a:srgbClr val="F8EED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62AF6E1B-C87B-257E-D18C-389598674B2F}"/>
              </a:ext>
            </a:extLst>
          </p:cNvPr>
          <p:cNvSpPr/>
          <p:nvPr/>
        </p:nvSpPr>
        <p:spPr>
          <a:xfrm>
            <a:off x="560722" y="7990174"/>
            <a:ext cx="8479755" cy="93303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75000"/>
                </a:schemeClr>
              </a:gs>
              <a:gs pos="60000">
                <a:schemeClr val="accent1">
                  <a:lumMod val="45000"/>
                  <a:lumOff val="55000"/>
                </a:schemeClr>
              </a:gs>
              <a:gs pos="100000">
                <a:srgbClr val="0070C0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1E5A194C-355F-192F-93EC-D46A0167695F}"/>
              </a:ext>
            </a:extLst>
          </p:cNvPr>
          <p:cNvSpPr txBox="1"/>
          <p:nvPr/>
        </p:nvSpPr>
        <p:spPr>
          <a:xfrm>
            <a:off x="-162817" y="6144485"/>
            <a:ext cx="992683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b="1" dirty="0">
                <a:effectLst>
                  <a:glow rad="139700">
                    <a:schemeClr val="accent6">
                      <a:alpha val="40000"/>
                    </a:schemeClr>
                  </a:glow>
                </a:effectLst>
                <a:latin typeface="Data 70" panose="02000506020000020004" pitchFamily="2" charset="0"/>
              </a:rPr>
              <a:t>O Computador</a:t>
            </a:r>
            <a:br>
              <a:rPr lang="pt-BR" sz="6000" b="1" dirty="0">
                <a:effectLst>
                  <a:glow rad="139700">
                    <a:schemeClr val="accent6">
                      <a:alpha val="40000"/>
                    </a:schemeClr>
                  </a:glow>
                </a:effectLst>
                <a:latin typeface="Data 70" panose="02000506020000020004" pitchFamily="2" charset="0"/>
              </a:rPr>
            </a:br>
            <a:r>
              <a:rPr lang="pt-BR" sz="6000" b="1" dirty="0">
                <a:effectLst>
                  <a:glow rad="139700">
                    <a:schemeClr val="accent6">
                      <a:alpha val="40000"/>
                    </a:schemeClr>
                  </a:glow>
                </a:effectLst>
                <a:latin typeface="Data 70" panose="02000506020000020004" pitchFamily="2" charset="0"/>
              </a:rPr>
              <a:t>A Máquina Central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CAA13698-3E2C-C222-3692-3258AA22B318}"/>
              </a:ext>
            </a:extLst>
          </p:cNvPr>
          <p:cNvSpPr txBox="1"/>
          <p:nvPr/>
        </p:nvSpPr>
        <p:spPr>
          <a:xfrm>
            <a:off x="2735393" y="1302042"/>
            <a:ext cx="4907946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4400" b="1" dirty="0">
                <a:ln>
                  <a:solidFill>
                    <a:schemeClr val="accent6">
                      <a:lumMod val="50000"/>
                    </a:schemeClr>
                  </a:solidFill>
                </a:ln>
                <a:noFill/>
                <a:effectLst>
                  <a:glow rad="139700">
                    <a:schemeClr val="accent6">
                      <a:alpha val="40000"/>
                    </a:schemeClr>
                  </a:glow>
                </a:effectLst>
                <a:latin typeface="Data 70" panose="02000506020000020004" pitchFamily="2" charset="0"/>
              </a:rPr>
              <a:t>01</a:t>
            </a:r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75CD9AD9-471D-48C3-CE3F-9EF6840A0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9442" y="7738809"/>
            <a:ext cx="8281035" cy="2474384"/>
          </a:xfrm>
        </p:spPr>
        <p:txBody>
          <a:bodyPr>
            <a:noAutofit/>
          </a:bodyPr>
          <a:lstStyle/>
          <a:p>
            <a:r>
              <a:rPr lang="pt-BR" sz="2400" dirty="0">
                <a:latin typeface="+mn-lt"/>
              </a:rPr>
              <a:t>O computador é a "cabeça" de toda a operação. É a máquina que processa informações.</a:t>
            </a:r>
            <a:br>
              <a:rPr lang="pt-BR" sz="2400" dirty="0">
                <a:latin typeface="+mn-lt"/>
              </a:rPr>
            </a:br>
            <a:endParaRPr lang="pt-BR" sz="2400" dirty="0">
              <a:latin typeface="+mn-lt"/>
            </a:endParaRPr>
          </a:p>
        </p:txBody>
      </p:sp>
      <p:sp>
        <p:nvSpPr>
          <p:cNvPr id="12" name="Espaço Reservado para Rodapé 11">
            <a:extLst>
              <a:ext uri="{FF2B5EF4-FFF2-40B4-BE49-F238E27FC236}">
                <a16:creationId xmlns:a16="http://schemas.microsoft.com/office/drawing/2014/main" id="{E1694883-D7BB-9B34-2083-77EC2F0B1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INFORMÁTICA BÁSICA</a:t>
            </a:r>
          </a:p>
        </p:txBody>
      </p:sp>
      <p:sp>
        <p:nvSpPr>
          <p:cNvPr id="13" name="Espaço Reservado para Número de Slide 12">
            <a:extLst>
              <a:ext uri="{FF2B5EF4-FFF2-40B4-BE49-F238E27FC236}">
                <a16:creationId xmlns:a16="http://schemas.microsoft.com/office/drawing/2014/main" id="{3F011671-7551-382E-53C8-F9CB93158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BE0DC-FC07-44B3-B5A7-80B04645CF34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856792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15EC59-C84C-F81A-FF56-73B891FD1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AB276D2F-843A-F837-A893-EB7958E05A97}"/>
              </a:ext>
            </a:extLst>
          </p:cNvPr>
          <p:cNvSpPr/>
          <p:nvPr/>
        </p:nvSpPr>
        <p:spPr>
          <a:xfrm>
            <a:off x="0" y="-214009"/>
            <a:ext cx="9601200" cy="13015609"/>
          </a:xfrm>
          <a:prstGeom prst="rect">
            <a:avLst/>
          </a:prstGeom>
          <a:solidFill>
            <a:srgbClr val="F8EED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6AC0132-2B55-B598-FD96-6B390978B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2593" y="3146576"/>
            <a:ext cx="8281035" cy="2474384"/>
          </a:xfrm>
        </p:spPr>
        <p:txBody>
          <a:bodyPr>
            <a:noAutofit/>
          </a:bodyPr>
          <a:lstStyle/>
          <a:p>
            <a:r>
              <a:rPr lang="pt-BR" sz="2400" dirty="0">
                <a:latin typeface="+mn-lt"/>
              </a:rPr>
              <a:t>Explicação Simples: É como uma super calculadora que também pode escrever, desenhar, tocar música e se conectar com o mundo. Exemplo de Uso: Você usa um computador para escrever um e-mail (usando o teclado), ver um vídeo (usando o monitor) ou fazer uma planilha de gastos. Tipos Comuns: Desktop: O computador de mesa (com gabinete, monitor e teclado separados).Notebook/Laptop: O computador portátil que você pode levar para qualquer lugar.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541547EA-4DBE-D9D6-09C5-BF7B563DFDF3}"/>
              </a:ext>
            </a:extLst>
          </p:cNvPr>
          <p:cNvSpPr/>
          <p:nvPr/>
        </p:nvSpPr>
        <p:spPr>
          <a:xfrm>
            <a:off x="887223" y="-214009"/>
            <a:ext cx="72000" cy="14400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75000"/>
                </a:schemeClr>
              </a:gs>
              <a:gs pos="60000">
                <a:schemeClr val="accent1">
                  <a:lumMod val="45000"/>
                  <a:lumOff val="55000"/>
                </a:schemeClr>
              </a:gs>
              <a:gs pos="100000">
                <a:srgbClr val="0070C0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572FEEBD-2F03-B0E7-ED63-65A68B727628}"/>
              </a:ext>
            </a:extLst>
          </p:cNvPr>
          <p:cNvSpPr txBox="1">
            <a:spLocks/>
          </p:cNvSpPr>
          <p:nvPr/>
        </p:nvSpPr>
        <p:spPr>
          <a:xfrm>
            <a:off x="1052592" y="0"/>
            <a:ext cx="8332609" cy="202335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6012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2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4000" dirty="0">
                <a:latin typeface="Impact" panose="020B0806030902050204" pitchFamily="34" charset="0"/>
              </a:rPr>
              <a:t>O Computador</a:t>
            </a:r>
            <a:br>
              <a:rPr lang="pt-BR" sz="4000" dirty="0">
                <a:latin typeface="Impact" panose="020B0806030902050204" pitchFamily="34" charset="0"/>
              </a:rPr>
            </a:br>
            <a:r>
              <a:rPr lang="pt-BR" sz="4000" dirty="0">
                <a:latin typeface="Impact" panose="020B0806030902050204" pitchFamily="34" charset="0"/>
              </a:rPr>
              <a:t>A Máquina Central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0108D89-516A-7484-AE54-678EC5600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INFORMÁTICA BÁSICA</a:t>
            </a:r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BF7D23C-2AD0-F1BF-58BB-3FF07BE76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BE0DC-FC07-44B3-B5A7-80B04645CF34}" type="slidenum">
              <a:rPr lang="pt-BR" smtClean="0"/>
              <a:t>4</a:t>
            </a:fld>
            <a:endParaRPr lang="pt-BR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B195496B-4813-E690-4FEE-F5F7CCAD21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47461" y1="57031" x2="47461" y2="57031"/>
                        <a14:foregroundMark x1="53320" y1="59473" x2="53320" y2="59473"/>
                        <a14:foregroundMark x1="33203" y1="56543" x2="33203" y2="56543"/>
                        <a14:foregroundMark x1="24805" y1="58984" x2="24805" y2="58984"/>
                        <a14:foregroundMark x1="44434" y1="72266" x2="44434" y2="72266"/>
                      </a14:backgroundRemoval>
                    </a14:imgEffect>
                    <a14:imgEffect>
                      <a14:artisticLineDrawing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6031" y="10669836"/>
            <a:ext cx="1709137" cy="1709137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2523ED1B-9717-A237-136B-4C19DC0CD6F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57049" r="-6877" b="9928"/>
          <a:stretch>
            <a:fillRect/>
          </a:stretch>
        </p:blipFill>
        <p:spPr>
          <a:xfrm>
            <a:off x="1440976" y="7072229"/>
            <a:ext cx="6719246" cy="1384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40758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843A7A-E5D9-466E-258E-E8D99EA9F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2A4F60FF-E046-AB18-D06F-061AC1290BA7}"/>
              </a:ext>
            </a:extLst>
          </p:cNvPr>
          <p:cNvSpPr/>
          <p:nvPr/>
        </p:nvSpPr>
        <p:spPr>
          <a:xfrm>
            <a:off x="-1" y="0"/>
            <a:ext cx="9601200" cy="12801600"/>
          </a:xfrm>
          <a:prstGeom prst="rect">
            <a:avLst/>
          </a:prstGeom>
          <a:solidFill>
            <a:srgbClr val="F8EED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4EB6185E-D052-C7E9-C55C-DF5208480A15}"/>
              </a:ext>
            </a:extLst>
          </p:cNvPr>
          <p:cNvSpPr/>
          <p:nvPr/>
        </p:nvSpPr>
        <p:spPr>
          <a:xfrm>
            <a:off x="560722" y="7990174"/>
            <a:ext cx="8479755" cy="93303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75000"/>
                </a:schemeClr>
              </a:gs>
              <a:gs pos="60000">
                <a:schemeClr val="accent1">
                  <a:lumMod val="45000"/>
                  <a:lumOff val="55000"/>
                </a:schemeClr>
              </a:gs>
              <a:gs pos="100000">
                <a:srgbClr val="0070C0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6F637BCB-B62E-CB15-CE16-6800821B9207}"/>
              </a:ext>
            </a:extLst>
          </p:cNvPr>
          <p:cNvSpPr txBox="1"/>
          <p:nvPr/>
        </p:nvSpPr>
        <p:spPr>
          <a:xfrm>
            <a:off x="875831" y="5973361"/>
            <a:ext cx="804825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b="1" dirty="0">
                <a:effectLst>
                  <a:glow rad="139700">
                    <a:schemeClr val="accent6">
                      <a:alpha val="40000"/>
                    </a:schemeClr>
                  </a:glow>
                </a:effectLst>
                <a:latin typeface="Data 70" panose="02000506020000020004" pitchFamily="2" charset="0"/>
              </a:rPr>
              <a:t>Hardware </a:t>
            </a:r>
            <a:br>
              <a:rPr lang="pt-BR" sz="6000" b="1" dirty="0">
                <a:effectLst>
                  <a:glow rad="139700">
                    <a:schemeClr val="accent6">
                      <a:alpha val="40000"/>
                    </a:schemeClr>
                  </a:glow>
                </a:effectLst>
                <a:latin typeface="Data 70" panose="02000506020000020004" pitchFamily="2" charset="0"/>
              </a:rPr>
            </a:br>
            <a:r>
              <a:rPr lang="pt-BR" sz="6000" b="1" dirty="0">
                <a:effectLst>
                  <a:glow rad="139700">
                    <a:schemeClr val="accent6">
                      <a:alpha val="40000"/>
                    </a:schemeClr>
                  </a:glow>
                </a:effectLst>
                <a:latin typeface="Data 70" panose="02000506020000020004" pitchFamily="2" charset="0"/>
              </a:rPr>
              <a:t>A Parte que Você Toca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18C72730-4D6C-7705-7D22-613D55B64C43}"/>
              </a:ext>
            </a:extLst>
          </p:cNvPr>
          <p:cNvSpPr txBox="1"/>
          <p:nvPr/>
        </p:nvSpPr>
        <p:spPr>
          <a:xfrm>
            <a:off x="2735392" y="1302042"/>
            <a:ext cx="5377475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4400" b="1" dirty="0">
                <a:ln>
                  <a:solidFill>
                    <a:schemeClr val="accent6">
                      <a:lumMod val="50000"/>
                    </a:schemeClr>
                  </a:solidFill>
                </a:ln>
                <a:noFill/>
                <a:effectLst>
                  <a:glow rad="139700">
                    <a:schemeClr val="accent6">
                      <a:alpha val="40000"/>
                    </a:schemeClr>
                  </a:glow>
                </a:effectLst>
                <a:latin typeface="Data 70" panose="02000506020000020004" pitchFamily="2" charset="0"/>
              </a:rPr>
              <a:t>02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60C9A64-2858-892C-4C96-F32ADD101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113" y="7544256"/>
            <a:ext cx="8281035" cy="2474384"/>
          </a:xfrm>
        </p:spPr>
        <p:txBody>
          <a:bodyPr>
            <a:noAutofit/>
          </a:bodyPr>
          <a:lstStyle/>
          <a:p>
            <a:r>
              <a:rPr lang="pt-BR" sz="2400" dirty="0">
                <a:latin typeface="+mn-lt"/>
              </a:rPr>
              <a:t>Hardware é toda a parte física do computador, aquilo que você consegue tocar.</a:t>
            </a: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99227CB-6B41-FEF7-948B-FB65F2EFE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INFORMÁTICA BÁSICA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36F1E11-3FC0-EBA5-1B7B-0BAD610BF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BE0DC-FC07-44B3-B5A7-80B04645CF34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9440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FDBA9-5A20-174D-8D61-80517125F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F63AB6EF-2DD9-4A74-3346-3BD7A54172BF}"/>
              </a:ext>
            </a:extLst>
          </p:cNvPr>
          <p:cNvSpPr/>
          <p:nvPr/>
        </p:nvSpPr>
        <p:spPr>
          <a:xfrm>
            <a:off x="0" y="-214009"/>
            <a:ext cx="9601200" cy="13015609"/>
          </a:xfrm>
          <a:prstGeom prst="rect">
            <a:avLst/>
          </a:prstGeom>
          <a:solidFill>
            <a:srgbClr val="F8EED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11DBBA9-A879-50AE-EC60-8897FE6500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2593" y="3146576"/>
            <a:ext cx="8281035" cy="2474384"/>
          </a:xfrm>
        </p:spPr>
        <p:txBody>
          <a:bodyPr>
            <a:noAutofit/>
          </a:bodyPr>
          <a:lstStyle/>
          <a:p>
            <a:r>
              <a:rPr lang="pt-BR" sz="2400">
                <a:latin typeface="+mn-lt"/>
              </a:rPr>
              <a:t>Explicação Simples: São os "tijolos" e as "peças" do computador. Se cair no chão, é hardware!Exemplos de Uso:Monitor: A tela onde você vê este texto (o "olho" do computador).Teclado: Onde você digita uma mensagem (a "caneta").Mouse: O dispositivo que você usa para clicar em links e movimentar a seta na tela (o "apontador").Processador (CPU): O "cérebro" dentro do computador que faz todos os cálculos e toma as decisões.</a:t>
            </a:r>
            <a:endParaRPr lang="pt-BR" sz="2400" dirty="0">
              <a:latin typeface="+mn-lt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4FE0FFF4-C00F-F77F-E804-0F60929B8B14}"/>
              </a:ext>
            </a:extLst>
          </p:cNvPr>
          <p:cNvSpPr/>
          <p:nvPr/>
        </p:nvSpPr>
        <p:spPr>
          <a:xfrm>
            <a:off x="887223" y="-214009"/>
            <a:ext cx="72000" cy="14400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75000"/>
                </a:schemeClr>
              </a:gs>
              <a:gs pos="60000">
                <a:schemeClr val="accent1">
                  <a:lumMod val="45000"/>
                  <a:lumOff val="55000"/>
                </a:schemeClr>
              </a:gs>
              <a:gs pos="100000">
                <a:srgbClr val="0070C0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F5E8CB4A-F6B4-A774-D3C1-F811AF316D60}"/>
              </a:ext>
            </a:extLst>
          </p:cNvPr>
          <p:cNvSpPr txBox="1">
            <a:spLocks/>
          </p:cNvSpPr>
          <p:nvPr/>
        </p:nvSpPr>
        <p:spPr>
          <a:xfrm>
            <a:off x="1052593" y="0"/>
            <a:ext cx="7863764" cy="202335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6012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2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4000">
                <a:latin typeface="Impact" panose="020B0806030902050204" pitchFamily="34" charset="0"/>
              </a:rPr>
              <a:t>Hardware </a:t>
            </a:r>
            <a:br>
              <a:rPr lang="pt-BR" sz="4000">
                <a:latin typeface="Impact" panose="020B0806030902050204" pitchFamily="34" charset="0"/>
              </a:rPr>
            </a:br>
            <a:r>
              <a:rPr lang="pt-BR" sz="4000">
                <a:latin typeface="Impact" panose="020B0806030902050204" pitchFamily="34" charset="0"/>
              </a:rPr>
              <a:t>A Parte que Você Toca</a:t>
            </a:r>
            <a:endParaRPr lang="pt-BR" sz="4000" dirty="0">
              <a:latin typeface="Impact" panose="020B0806030902050204" pitchFamily="34" charset="0"/>
            </a:endParaRP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D53B96A-EAEF-B80A-6384-F7049767D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INFORMÁTICA BÁSICA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819988B-75D9-22A4-6285-252FB2300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BE0DC-FC07-44B3-B5A7-80B04645CF34}" type="slidenum">
              <a:rPr lang="pt-BR" smtClean="0"/>
              <a:t>6</a:t>
            </a:fld>
            <a:endParaRPr lang="pt-BR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2E77B375-FD16-C9FD-8262-DAC565176E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1525" r="1186" b="30928"/>
          <a:stretch>
            <a:fillRect/>
          </a:stretch>
        </p:blipFill>
        <p:spPr>
          <a:xfrm>
            <a:off x="2024062" y="5212669"/>
            <a:ext cx="5553075" cy="3768876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54A12CDE-F40D-B169-460F-8A35E9D78B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47461" y1="57031" x2="47461" y2="57031"/>
                        <a14:foregroundMark x1="53320" y1="59473" x2="53320" y2="59473"/>
                        <a14:foregroundMark x1="33203" y1="56543" x2="33203" y2="56543"/>
                        <a14:foregroundMark x1="24805" y1="58984" x2="24805" y2="58984"/>
                        <a14:foregroundMark x1="44434" y1="72266" x2="44434" y2="72266"/>
                      </a14:backgroundRemoval>
                    </a14:imgEffect>
                    <a14:imgEffect>
                      <a14:artisticLineDrawing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6031" y="10669836"/>
            <a:ext cx="1709137" cy="1709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3506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11C74F-424D-F3EF-661E-DE1C2A469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0DC2690F-688D-38B3-6619-1C91CBDCD088}"/>
              </a:ext>
            </a:extLst>
          </p:cNvPr>
          <p:cNvSpPr/>
          <p:nvPr/>
        </p:nvSpPr>
        <p:spPr>
          <a:xfrm>
            <a:off x="-1" y="0"/>
            <a:ext cx="9601200" cy="12801600"/>
          </a:xfrm>
          <a:prstGeom prst="rect">
            <a:avLst/>
          </a:prstGeom>
          <a:solidFill>
            <a:srgbClr val="F8EED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5CD92A5E-2F71-41A7-D09F-881F2D58B0AA}"/>
              </a:ext>
            </a:extLst>
          </p:cNvPr>
          <p:cNvSpPr/>
          <p:nvPr/>
        </p:nvSpPr>
        <p:spPr>
          <a:xfrm>
            <a:off x="560722" y="7990174"/>
            <a:ext cx="8479755" cy="93303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75000"/>
                </a:schemeClr>
              </a:gs>
              <a:gs pos="60000">
                <a:schemeClr val="accent1">
                  <a:lumMod val="45000"/>
                  <a:lumOff val="55000"/>
                </a:schemeClr>
              </a:gs>
              <a:gs pos="100000">
                <a:srgbClr val="0070C0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A2ECBE63-D9AF-360F-057A-6E4F76BB6485}"/>
              </a:ext>
            </a:extLst>
          </p:cNvPr>
          <p:cNvSpPr txBox="1"/>
          <p:nvPr/>
        </p:nvSpPr>
        <p:spPr>
          <a:xfrm>
            <a:off x="776471" y="6119250"/>
            <a:ext cx="804825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b="1" dirty="0">
                <a:effectLst>
                  <a:glow rad="139700">
                    <a:schemeClr val="accent6">
                      <a:alpha val="40000"/>
                    </a:schemeClr>
                  </a:glow>
                </a:effectLst>
                <a:latin typeface="Data 70" panose="02000506020000020004" pitchFamily="2" charset="0"/>
              </a:rPr>
              <a:t>Software </a:t>
            </a:r>
            <a:br>
              <a:rPr lang="pt-BR" sz="6000" b="1" dirty="0">
                <a:effectLst>
                  <a:glow rad="139700">
                    <a:schemeClr val="accent6">
                      <a:alpha val="40000"/>
                    </a:schemeClr>
                  </a:glow>
                </a:effectLst>
                <a:latin typeface="Data 70" panose="02000506020000020004" pitchFamily="2" charset="0"/>
              </a:rPr>
            </a:br>
            <a:r>
              <a:rPr lang="pt-BR" sz="6000" b="1" dirty="0">
                <a:effectLst>
                  <a:glow rad="139700">
                    <a:schemeClr val="accent6">
                      <a:alpha val="40000"/>
                    </a:schemeClr>
                  </a:glow>
                </a:effectLst>
                <a:latin typeface="Data 70" panose="02000506020000020004" pitchFamily="2" charset="0"/>
              </a:rPr>
              <a:t>Os Programas e Aplicativos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E685B3BE-C1DA-0397-2957-A6B4E48F9177}"/>
              </a:ext>
            </a:extLst>
          </p:cNvPr>
          <p:cNvSpPr txBox="1"/>
          <p:nvPr/>
        </p:nvSpPr>
        <p:spPr>
          <a:xfrm>
            <a:off x="2735392" y="1302042"/>
            <a:ext cx="5377475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4400" b="1" dirty="0">
                <a:ln>
                  <a:solidFill>
                    <a:schemeClr val="accent6">
                      <a:lumMod val="50000"/>
                    </a:schemeClr>
                  </a:solidFill>
                </a:ln>
                <a:noFill/>
                <a:effectLst>
                  <a:glow rad="139700">
                    <a:schemeClr val="accent6">
                      <a:alpha val="40000"/>
                    </a:schemeClr>
                  </a:glow>
                </a:effectLst>
                <a:latin typeface="Data 70" panose="02000506020000020004" pitchFamily="2" charset="0"/>
              </a:rPr>
              <a:t>03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32411E3-620A-4377-0348-F529299C6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9442" y="7738809"/>
            <a:ext cx="8281035" cy="2474384"/>
          </a:xfrm>
        </p:spPr>
        <p:txBody>
          <a:bodyPr>
            <a:noAutofit/>
          </a:bodyPr>
          <a:lstStyle/>
          <a:p>
            <a:r>
              <a:rPr lang="pt-BR" sz="2400">
                <a:latin typeface="+mn-lt"/>
              </a:rPr>
              <a:t>Software é a parte lógica, ou seja, os programas e as instruções que dizem ao hardware o que fazer. Você não pode tocar no software, mas pode usá-lo.</a:t>
            </a:r>
            <a:endParaRPr lang="pt-BR" sz="2400" dirty="0">
              <a:latin typeface="+mn-lt"/>
            </a:endParaRP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F5C15CC-FA08-0125-45C2-C5A42A52F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INFORMÁTICA BÁSICA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1525DC4-8AAF-7E7C-5CA1-52AF6356A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BE0DC-FC07-44B3-B5A7-80B04645CF34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78040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D34DD-47B8-C130-0F72-B29CE0FBC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5E13A4AC-2790-F6E6-15CF-77217416FDC0}"/>
              </a:ext>
            </a:extLst>
          </p:cNvPr>
          <p:cNvSpPr/>
          <p:nvPr/>
        </p:nvSpPr>
        <p:spPr>
          <a:xfrm>
            <a:off x="0" y="-214009"/>
            <a:ext cx="9601200" cy="13015609"/>
          </a:xfrm>
          <a:prstGeom prst="rect">
            <a:avLst/>
          </a:prstGeom>
          <a:solidFill>
            <a:srgbClr val="F8EED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03EC64C-0F01-8DDC-CEEF-7DE6E7F97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2593" y="3146576"/>
            <a:ext cx="8281035" cy="2474384"/>
          </a:xfrm>
        </p:spPr>
        <p:txBody>
          <a:bodyPr>
            <a:noAutofit/>
          </a:bodyPr>
          <a:lstStyle/>
          <a:p>
            <a:r>
              <a:rPr lang="pt-BR" sz="2400">
                <a:latin typeface="+mn-lt"/>
              </a:rPr>
              <a:t>Explicação Simples: São as "receitas" e os "livros de instruções" que o computador lê para funcionar ou executar tarefas específicas.Exemplos de Uso:Sistema Operacional (SO): O software principal, como o Windows, macOS ou Android. Ele gerencia tudo. Exemplo: Quando você liga o computador e vê a área de trabalho, é o Sistema Operacional trabalhando.Aplicativos/Programas: Softwares específicos para tarefas. Exemplo: O Google Chrome para navegar na internet, o Word para escrever documentos ou o WhatsApp para enviar mensagens.</a:t>
            </a:r>
            <a:endParaRPr lang="pt-BR" sz="2400" dirty="0">
              <a:latin typeface="+mn-lt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97C99AC-145F-C4C6-29D8-F0F520046113}"/>
              </a:ext>
            </a:extLst>
          </p:cNvPr>
          <p:cNvSpPr/>
          <p:nvPr/>
        </p:nvSpPr>
        <p:spPr>
          <a:xfrm>
            <a:off x="887223" y="-214009"/>
            <a:ext cx="72000" cy="14400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75000"/>
                </a:schemeClr>
              </a:gs>
              <a:gs pos="60000">
                <a:schemeClr val="accent1">
                  <a:lumMod val="45000"/>
                  <a:lumOff val="55000"/>
                </a:schemeClr>
              </a:gs>
              <a:gs pos="100000">
                <a:srgbClr val="0070C0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52036F69-2289-F1B7-C18B-6DAB09A3390A}"/>
              </a:ext>
            </a:extLst>
          </p:cNvPr>
          <p:cNvSpPr txBox="1">
            <a:spLocks/>
          </p:cNvSpPr>
          <p:nvPr/>
        </p:nvSpPr>
        <p:spPr>
          <a:xfrm>
            <a:off x="1052593" y="0"/>
            <a:ext cx="7863764" cy="202335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6012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2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4000">
                <a:latin typeface="Impact" panose="020B0806030902050204" pitchFamily="34" charset="0"/>
              </a:rPr>
              <a:t>Software </a:t>
            </a:r>
            <a:br>
              <a:rPr lang="pt-BR" sz="4000">
                <a:latin typeface="Impact" panose="020B0806030902050204" pitchFamily="34" charset="0"/>
              </a:rPr>
            </a:br>
            <a:r>
              <a:rPr lang="pt-BR" sz="4000">
                <a:latin typeface="Impact" panose="020B0806030902050204" pitchFamily="34" charset="0"/>
              </a:rPr>
              <a:t>Os Programas e Aplicativos</a:t>
            </a:r>
            <a:endParaRPr lang="pt-BR" sz="4000" dirty="0">
              <a:latin typeface="Impact" panose="020B0806030902050204" pitchFamily="34" charset="0"/>
            </a:endParaRP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F23068E-7847-6DA5-F8E9-EEEED74EE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INFORMÁTICA BÁSICA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902E56F-20EA-4161-8171-A8B9E8402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BE0DC-FC07-44B3-B5A7-80B04645CF34}" type="slidenum">
              <a:rPr lang="pt-BR" smtClean="0"/>
              <a:t>8</a:t>
            </a:fld>
            <a:endParaRPr lang="pt-BR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D7FC8967-4A31-64E5-BBA8-F88E03685F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44" b="46327"/>
          <a:stretch>
            <a:fillRect/>
          </a:stretch>
        </p:blipFill>
        <p:spPr>
          <a:xfrm>
            <a:off x="1784763" y="6798735"/>
            <a:ext cx="5701888" cy="2076450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3CFCC1FD-2B83-6635-365C-7FF3D76B91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47461" y1="57031" x2="47461" y2="57031"/>
                        <a14:foregroundMark x1="53320" y1="59473" x2="53320" y2="59473"/>
                        <a14:foregroundMark x1="33203" y1="56543" x2="33203" y2="56543"/>
                        <a14:foregroundMark x1="24805" y1="58984" x2="24805" y2="58984"/>
                        <a14:foregroundMark x1="44434" y1="72266" x2="44434" y2="72266"/>
                      </a14:backgroundRemoval>
                    </a14:imgEffect>
                    <a14:imgEffect>
                      <a14:artisticLineDrawing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6031" y="10669836"/>
            <a:ext cx="1709137" cy="1709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4972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4E527-FB14-04B1-E7D9-2E81C968F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74DE175D-F320-289F-372C-FA0D386D7025}"/>
              </a:ext>
            </a:extLst>
          </p:cNvPr>
          <p:cNvSpPr/>
          <p:nvPr/>
        </p:nvSpPr>
        <p:spPr>
          <a:xfrm>
            <a:off x="-1" y="0"/>
            <a:ext cx="9601200" cy="12801600"/>
          </a:xfrm>
          <a:prstGeom prst="rect">
            <a:avLst/>
          </a:prstGeom>
          <a:solidFill>
            <a:srgbClr val="F8EED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487A8E14-645F-79F9-83DD-64C8A0EC607A}"/>
              </a:ext>
            </a:extLst>
          </p:cNvPr>
          <p:cNvSpPr/>
          <p:nvPr/>
        </p:nvSpPr>
        <p:spPr>
          <a:xfrm>
            <a:off x="560722" y="7990174"/>
            <a:ext cx="8479755" cy="93303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75000"/>
                </a:schemeClr>
              </a:gs>
              <a:gs pos="60000">
                <a:schemeClr val="accent1">
                  <a:lumMod val="45000"/>
                  <a:lumOff val="55000"/>
                </a:schemeClr>
              </a:gs>
              <a:gs pos="100000">
                <a:srgbClr val="0070C0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FCDB92E9-E757-51FE-088D-5F41EBBD9FC2}"/>
              </a:ext>
            </a:extLst>
          </p:cNvPr>
          <p:cNvSpPr txBox="1"/>
          <p:nvPr/>
        </p:nvSpPr>
        <p:spPr>
          <a:xfrm>
            <a:off x="992221" y="6080339"/>
            <a:ext cx="804825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b="1" dirty="0">
                <a:effectLst>
                  <a:glow rad="139700">
                    <a:schemeClr val="accent6">
                      <a:alpha val="40000"/>
                    </a:schemeClr>
                  </a:glow>
                </a:effectLst>
                <a:latin typeface="Data 70" panose="02000506020000020004" pitchFamily="2" charset="0"/>
              </a:rPr>
              <a:t>Internet </a:t>
            </a:r>
            <a:br>
              <a:rPr lang="pt-BR" sz="6000" b="1" dirty="0">
                <a:effectLst>
                  <a:glow rad="139700">
                    <a:schemeClr val="accent6">
                      <a:alpha val="40000"/>
                    </a:schemeClr>
                  </a:glow>
                </a:effectLst>
                <a:latin typeface="Data 70" panose="02000506020000020004" pitchFamily="2" charset="0"/>
              </a:rPr>
            </a:br>
            <a:r>
              <a:rPr lang="pt-BR" sz="6000" b="1" dirty="0">
                <a:effectLst>
                  <a:glow rad="139700">
                    <a:schemeClr val="accent6">
                      <a:alpha val="40000"/>
                    </a:schemeClr>
                  </a:glow>
                </a:effectLst>
                <a:latin typeface="Data 70" panose="02000506020000020004" pitchFamily="2" charset="0"/>
              </a:rPr>
              <a:t>A Grande Rede Mundial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4493803A-61AC-A1DD-ACB4-5C32F0131028}"/>
              </a:ext>
            </a:extLst>
          </p:cNvPr>
          <p:cNvSpPr txBox="1"/>
          <p:nvPr/>
        </p:nvSpPr>
        <p:spPr>
          <a:xfrm>
            <a:off x="2735392" y="1302042"/>
            <a:ext cx="5377475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4400" b="1" dirty="0">
                <a:ln>
                  <a:solidFill>
                    <a:schemeClr val="accent6">
                      <a:lumMod val="50000"/>
                    </a:schemeClr>
                  </a:solidFill>
                </a:ln>
                <a:noFill/>
                <a:effectLst>
                  <a:glow rad="139700">
                    <a:schemeClr val="accent6">
                      <a:alpha val="40000"/>
                    </a:schemeClr>
                  </a:glow>
                </a:effectLst>
                <a:latin typeface="Data 70" panose="02000506020000020004" pitchFamily="2" charset="0"/>
              </a:rPr>
              <a:t>04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197E489-B39A-12DD-38E4-E436ECC92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9442" y="7738809"/>
            <a:ext cx="8281035" cy="2474384"/>
          </a:xfrm>
        </p:spPr>
        <p:txBody>
          <a:bodyPr>
            <a:noAutofit/>
          </a:bodyPr>
          <a:lstStyle/>
          <a:p>
            <a:r>
              <a:rPr lang="pt-BR" sz="2400">
                <a:latin typeface="+mn-lt"/>
              </a:rPr>
              <a:t>A internet é uma rede global que conecta bilhões de computadores e dispositivos.</a:t>
            </a:r>
            <a:endParaRPr lang="pt-BR" sz="2400" dirty="0">
              <a:latin typeface="+mn-lt"/>
            </a:endParaRP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0524B67-5349-DFCB-13CF-AF1317172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INFORMÁTICA BÁSICA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28EEEED-8CBC-EB98-74CA-69DB21EE7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BE0DC-FC07-44B3-B5A7-80B04645CF34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05747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5A7EDD-4EEF-B0A8-CEF2-36869C0D1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DCF2E9BE-60E1-FA98-C179-159782482D1D}"/>
              </a:ext>
            </a:extLst>
          </p:cNvPr>
          <p:cNvSpPr/>
          <p:nvPr/>
        </p:nvSpPr>
        <p:spPr>
          <a:xfrm>
            <a:off x="0" y="-214009"/>
            <a:ext cx="9601200" cy="13015609"/>
          </a:xfrm>
          <a:prstGeom prst="rect">
            <a:avLst/>
          </a:prstGeom>
          <a:solidFill>
            <a:srgbClr val="F8EED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7AD4133-5ADF-289E-096A-1D4B0478A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2593" y="3146576"/>
            <a:ext cx="8281035" cy="2474384"/>
          </a:xfrm>
        </p:spPr>
        <p:txBody>
          <a:bodyPr>
            <a:noAutofit/>
          </a:bodyPr>
          <a:lstStyle/>
          <a:p>
            <a:r>
              <a:rPr lang="pt-BR" sz="2400">
                <a:latin typeface="+mn-lt"/>
              </a:rPr>
              <a:t>Explicação Simples: É uma "estrada gigante" que liga seu computador a qualquer outro no mundo.Exemplos de Uso:Navegar (acessar sites): Pesquisar a previsão do tempo em um site de notícias.E-mail: Enviar uma foto para um amigo que está em outro país.Redes Sociais: Ver as fotos da sua família no Instagram ou Facebook.</a:t>
            </a:r>
            <a:endParaRPr lang="pt-BR" sz="2400" dirty="0">
              <a:latin typeface="+mn-lt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C1E71321-409B-483F-5E3B-1E48416C0094}"/>
              </a:ext>
            </a:extLst>
          </p:cNvPr>
          <p:cNvSpPr/>
          <p:nvPr/>
        </p:nvSpPr>
        <p:spPr>
          <a:xfrm>
            <a:off x="887223" y="-214009"/>
            <a:ext cx="72000" cy="14400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75000"/>
                </a:schemeClr>
              </a:gs>
              <a:gs pos="60000">
                <a:schemeClr val="accent1">
                  <a:lumMod val="45000"/>
                  <a:lumOff val="55000"/>
                </a:schemeClr>
              </a:gs>
              <a:gs pos="100000">
                <a:srgbClr val="0070C0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62D16062-6A44-6B74-A001-9F38604D7BFB}"/>
              </a:ext>
            </a:extLst>
          </p:cNvPr>
          <p:cNvSpPr txBox="1">
            <a:spLocks/>
          </p:cNvSpPr>
          <p:nvPr/>
        </p:nvSpPr>
        <p:spPr>
          <a:xfrm>
            <a:off x="1052593" y="0"/>
            <a:ext cx="7863764" cy="202335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6012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2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4000">
                <a:latin typeface="Impact" panose="020B0806030902050204" pitchFamily="34" charset="0"/>
              </a:rPr>
              <a:t>Internet </a:t>
            </a:r>
            <a:br>
              <a:rPr lang="pt-BR" sz="4000">
                <a:latin typeface="Impact" panose="020B0806030902050204" pitchFamily="34" charset="0"/>
              </a:rPr>
            </a:br>
            <a:r>
              <a:rPr lang="pt-BR" sz="4000">
                <a:latin typeface="Impact" panose="020B0806030902050204" pitchFamily="34" charset="0"/>
              </a:rPr>
              <a:t>A Grande Rede Mundial</a:t>
            </a:r>
            <a:endParaRPr lang="pt-BR" sz="4000" dirty="0">
              <a:latin typeface="Impact" panose="020B0806030902050204" pitchFamily="34" charset="0"/>
            </a:endParaRP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F37F702-07A4-30FC-B35B-631A9AE7F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INFORMÁTICA BÁSICA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90C6B7AC-C53B-1C62-1CE5-1C3761D84A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693"/>
          <a:stretch>
            <a:fillRect/>
          </a:stretch>
        </p:blipFill>
        <p:spPr>
          <a:xfrm>
            <a:off x="1514475" y="5924550"/>
            <a:ext cx="6572250" cy="2609850"/>
          </a:xfrm>
          <a:prstGeom prst="rect">
            <a:avLst/>
          </a:prstGeom>
        </p:spPr>
      </p:pic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C896CD7-75D5-B84D-F6D1-A0045E169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BE0DC-FC07-44B3-B5A7-80B04645CF34}" type="slidenum">
              <a:rPr lang="pt-BR" smtClean="0"/>
              <a:t>10</a:t>
            </a:fld>
            <a:endParaRPr lang="pt-BR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818E6B7A-2D39-2F69-997A-BAEF0FD371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47461" y1="57031" x2="47461" y2="57031"/>
                        <a14:foregroundMark x1="53320" y1="59473" x2="53320" y2="59473"/>
                        <a14:foregroundMark x1="33203" y1="56543" x2="33203" y2="56543"/>
                        <a14:foregroundMark x1="24805" y1="58984" x2="24805" y2="58984"/>
                        <a14:foregroundMark x1="44434" y1="72266" x2="44434" y2="72266"/>
                      </a14:backgroundRemoval>
                    </a14:imgEffect>
                    <a14:imgEffect>
                      <a14:artisticLineDrawing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6031" y="10669836"/>
            <a:ext cx="1709137" cy="1709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11126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C00F3-FCBA-FF54-92BD-71B1CC276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FF858082-EA97-B3E7-E5A5-5FF831DB7390}"/>
              </a:ext>
            </a:extLst>
          </p:cNvPr>
          <p:cNvSpPr/>
          <p:nvPr/>
        </p:nvSpPr>
        <p:spPr>
          <a:xfrm>
            <a:off x="-1" y="0"/>
            <a:ext cx="9601200" cy="12801600"/>
          </a:xfrm>
          <a:prstGeom prst="rect">
            <a:avLst/>
          </a:prstGeom>
          <a:solidFill>
            <a:srgbClr val="F8EED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C1A6945F-6863-F8F0-4D17-B8000DD20F62}"/>
              </a:ext>
            </a:extLst>
          </p:cNvPr>
          <p:cNvSpPr/>
          <p:nvPr/>
        </p:nvSpPr>
        <p:spPr>
          <a:xfrm>
            <a:off x="560722" y="7990174"/>
            <a:ext cx="8479755" cy="93303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75000"/>
                </a:schemeClr>
              </a:gs>
              <a:gs pos="60000">
                <a:schemeClr val="accent1">
                  <a:lumMod val="45000"/>
                  <a:lumOff val="55000"/>
                </a:schemeClr>
              </a:gs>
              <a:gs pos="100000">
                <a:srgbClr val="0070C0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918663F9-84B3-DD81-CC0F-0BCFE1BAE797}"/>
              </a:ext>
            </a:extLst>
          </p:cNvPr>
          <p:cNvSpPr txBox="1"/>
          <p:nvPr/>
        </p:nvSpPr>
        <p:spPr>
          <a:xfrm>
            <a:off x="992221" y="6043343"/>
            <a:ext cx="804825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b="1" dirty="0">
                <a:effectLst>
                  <a:glow rad="139700">
                    <a:schemeClr val="accent6">
                      <a:alpha val="40000"/>
                    </a:schemeClr>
                  </a:glow>
                </a:effectLst>
                <a:latin typeface="Data 70" panose="02000506020000020004" pitchFamily="2" charset="0"/>
              </a:rPr>
              <a:t>Arquivos e Pastas Organizando suas Coisas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4A976953-2220-D811-D1B6-45D79ECB87A0}"/>
              </a:ext>
            </a:extLst>
          </p:cNvPr>
          <p:cNvSpPr txBox="1"/>
          <p:nvPr/>
        </p:nvSpPr>
        <p:spPr>
          <a:xfrm>
            <a:off x="2735392" y="1302042"/>
            <a:ext cx="5377475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4400" b="1" dirty="0">
                <a:ln>
                  <a:solidFill>
                    <a:schemeClr val="accent6">
                      <a:lumMod val="50000"/>
                    </a:schemeClr>
                  </a:solidFill>
                </a:ln>
                <a:noFill/>
                <a:effectLst>
                  <a:glow rad="139700">
                    <a:schemeClr val="accent6">
                      <a:alpha val="40000"/>
                    </a:schemeClr>
                  </a:glow>
                </a:effectLst>
                <a:latin typeface="Data 70" panose="02000506020000020004" pitchFamily="2" charset="0"/>
              </a:rPr>
              <a:t>05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6373A19-C5C8-5E92-BD46-14A70C568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9442" y="7738809"/>
            <a:ext cx="8281035" cy="2474384"/>
          </a:xfrm>
        </p:spPr>
        <p:txBody>
          <a:bodyPr>
            <a:noAutofit/>
          </a:bodyPr>
          <a:lstStyle/>
          <a:p>
            <a:r>
              <a:rPr lang="pt-BR" sz="2400">
                <a:latin typeface="+mn-lt"/>
              </a:rPr>
              <a:t>Arquivos são onde as informações são guardadas. Pastas são usadas para organizar esses arquivos.</a:t>
            </a:r>
            <a:endParaRPr lang="pt-BR" sz="2400" dirty="0">
              <a:latin typeface="+mn-lt"/>
            </a:endParaRP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FB0436B-D579-DFD2-A803-CE49AC636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INFORMÁTICA BÁSICA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1936620-5F45-2727-1022-083F7540E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BE0DC-FC07-44B3-B5A7-80B04645CF34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75315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876A3E-9EFB-EAB9-F3AB-FD08067BD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E658E308-3705-AB47-69E3-D2810027ADE9}"/>
              </a:ext>
            </a:extLst>
          </p:cNvPr>
          <p:cNvSpPr/>
          <p:nvPr/>
        </p:nvSpPr>
        <p:spPr>
          <a:xfrm>
            <a:off x="0" y="-214009"/>
            <a:ext cx="9601200" cy="13015609"/>
          </a:xfrm>
          <a:prstGeom prst="rect">
            <a:avLst/>
          </a:prstGeom>
          <a:solidFill>
            <a:srgbClr val="F8EED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98BA7E4-6DD4-49CA-61E4-7B92E0F62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2593" y="3146576"/>
            <a:ext cx="8281035" cy="2474384"/>
          </a:xfrm>
        </p:spPr>
        <p:txBody>
          <a:bodyPr>
            <a:noAutofit/>
          </a:bodyPr>
          <a:lstStyle/>
          <a:p>
            <a:r>
              <a:rPr lang="pt-BR" sz="2400">
                <a:latin typeface="+mn-lt"/>
              </a:rPr>
              <a:t>Explicação Simples: O arquivo é como um documento (uma carta, uma foto, uma música) e a pasta é como um envelope ou um armário onde você guarda vários documentos relacionados.Exemplos de Uso:Arquivo: A foto que você tirou no celular (.jpg) ou o texto que você digitou (.docx).Pasta: Criar uma pasta chamada "Viagem 2025" e guardar dentro dela todos os arquivos de fotos e orçamentos da viagem.</a:t>
            </a:r>
            <a:endParaRPr lang="pt-BR" sz="2400" dirty="0">
              <a:latin typeface="+mn-lt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3A4FEC6-32BF-CC7F-9CC1-EE51DA36581F}"/>
              </a:ext>
            </a:extLst>
          </p:cNvPr>
          <p:cNvSpPr/>
          <p:nvPr/>
        </p:nvSpPr>
        <p:spPr>
          <a:xfrm>
            <a:off x="887223" y="-214009"/>
            <a:ext cx="72000" cy="14400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75000"/>
                </a:schemeClr>
              </a:gs>
              <a:gs pos="60000">
                <a:schemeClr val="accent1">
                  <a:lumMod val="45000"/>
                  <a:lumOff val="55000"/>
                </a:schemeClr>
              </a:gs>
              <a:gs pos="100000">
                <a:srgbClr val="0070C0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08060522-0508-EF11-9FA2-712F473CD789}"/>
              </a:ext>
            </a:extLst>
          </p:cNvPr>
          <p:cNvSpPr txBox="1">
            <a:spLocks/>
          </p:cNvSpPr>
          <p:nvPr/>
        </p:nvSpPr>
        <p:spPr>
          <a:xfrm>
            <a:off x="1052593" y="0"/>
            <a:ext cx="7863764" cy="202335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6012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2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4000">
                <a:latin typeface="Impact" panose="020B0806030902050204" pitchFamily="34" charset="0"/>
              </a:rPr>
              <a:t>Arquivos e Pastas Organizando suas Coisas</a:t>
            </a:r>
            <a:endParaRPr lang="pt-BR" sz="4000" dirty="0">
              <a:latin typeface="Impact" panose="020B0806030902050204" pitchFamily="34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8E84019-FD1F-4ECA-863C-9D84FFC9F2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060" b="39340"/>
          <a:stretch>
            <a:fillRect/>
          </a:stretch>
        </p:blipFill>
        <p:spPr>
          <a:xfrm>
            <a:off x="1741250" y="6293795"/>
            <a:ext cx="6183549" cy="2474384"/>
          </a:xfrm>
          <a:prstGeom prst="rect">
            <a:avLst/>
          </a:prstGeom>
        </p:spPr>
      </p:pic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102DBEA-C7F4-8FF8-ED32-DD8AA6019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INFORMÁTICA BÁSICA</a:t>
            </a:r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276C1FD-535F-D0CE-7306-B1E9579AF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BE0DC-FC07-44B3-B5A7-80B04645CF34}" type="slidenum">
              <a:rPr lang="pt-BR" smtClean="0"/>
              <a:t>12</a:t>
            </a:fld>
            <a:endParaRPr lang="pt-BR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87FB80C0-DAFE-3C36-0B82-240B2485A7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47461" y1="57031" x2="47461" y2="57031"/>
                        <a14:foregroundMark x1="53320" y1="59473" x2="53320" y2="59473"/>
                        <a14:foregroundMark x1="33203" y1="56543" x2="33203" y2="56543"/>
                        <a14:foregroundMark x1="24805" y1="58984" x2="24805" y2="58984"/>
                        <a14:foregroundMark x1="44434" y1="72266" x2="44434" y2="72266"/>
                      </a14:backgroundRemoval>
                    </a14:imgEffect>
                    <a14:imgEffect>
                      <a14:artisticLineDrawing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6031" y="10669836"/>
            <a:ext cx="1709137" cy="1709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898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5E958E-049B-A4D5-23B7-6950B428E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tângulo 11">
            <a:extLst>
              <a:ext uri="{FF2B5EF4-FFF2-40B4-BE49-F238E27FC236}">
                <a16:creationId xmlns:a16="http://schemas.microsoft.com/office/drawing/2014/main" id="{55FFA230-1414-4EB9-8792-72E6F706B81E}"/>
              </a:ext>
            </a:extLst>
          </p:cNvPr>
          <p:cNvSpPr/>
          <p:nvPr/>
        </p:nvSpPr>
        <p:spPr>
          <a:xfrm>
            <a:off x="0" y="0"/>
            <a:ext cx="9601200" cy="12801600"/>
          </a:xfrm>
          <a:prstGeom prst="rect">
            <a:avLst/>
          </a:prstGeom>
          <a:solidFill>
            <a:srgbClr val="F8EED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noFill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A38CFA7-E637-490B-15FD-D9DDA997CF68}"/>
              </a:ext>
            </a:extLst>
          </p:cNvPr>
          <p:cNvSpPr txBox="1"/>
          <p:nvPr/>
        </p:nvSpPr>
        <p:spPr>
          <a:xfrm>
            <a:off x="2794957" y="11789308"/>
            <a:ext cx="401128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b="1" dirty="0">
                <a:effectLst>
                  <a:glow rad="139700">
                    <a:schemeClr val="accent6">
                      <a:alpha val="40000"/>
                    </a:schemeClr>
                  </a:glow>
                </a:effectLst>
                <a:latin typeface="Data 70" panose="02000506020000020004" pitchFamily="2" charset="0"/>
              </a:rPr>
              <a:t>Leonardo Augusto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ED490BC7-1ACE-BD6F-FFFF-5404640F59CF}"/>
              </a:ext>
            </a:extLst>
          </p:cNvPr>
          <p:cNvSpPr/>
          <p:nvPr/>
        </p:nvSpPr>
        <p:spPr>
          <a:xfrm>
            <a:off x="560722" y="7990174"/>
            <a:ext cx="8479755" cy="93303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75000"/>
                </a:schemeClr>
              </a:gs>
              <a:gs pos="60000">
                <a:schemeClr val="accent1">
                  <a:lumMod val="45000"/>
                  <a:lumOff val="55000"/>
                </a:schemeClr>
              </a:gs>
              <a:gs pos="100000">
                <a:srgbClr val="0070C0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A0D9D7D-FEFB-B0BB-6739-C9C24944D2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47461" y1="57031" x2="47461" y2="57031"/>
                        <a14:foregroundMark x1="53320" y1="59473" x2="53320" y2="59473"/>
                        <a14:foregroundMark x1="33203" y1="56543" x2="33203" y2="56543"/>
                        <a14:foregroundMark x1="24805" y1="58984" x2="24805" y2="58984"/>
                        <a14:foregroundMark x1="44434" y1="72266" x2="44434" y2="72266"/>
                      </a14:backgroundRemoval>
                    </a14:imgEffect>
                    <a14:imgEffect>
                      <a14:artisticLineDrawing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6029" y="10464891"/>
            <a:ext cx="1709137" cy="1709137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48D9C592-F048-889A-1D12-D58862191325}"/>
              </a:ext>
            </a:extLst>
          </p:cNvPr>
          <p:cNvSpPr txBox="1"/>
          <p:nvPr/>
        </p:nvSpPr>
        <p:spPr>
          <a:xfrm>
            <a:off x="560722" y="6137748"/>
            <a:ext cx="891739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0" b="1" dirty="0">
                <a:effectLst>
                  <a:glow rad="139700">
                    <a:schemeClr val="accent6">
                      <a:alpha val="40000"/>
                    </a:schemeClr>
                  </a:glow>
                </a:effectLst>
                <a:latin typeface="Data 70" panose="02000506020000020004" pitchFamily="2" charset="0"/>
              </a:rPr>
              <a:t>AGRADECIMENTOS</a:t>
            </a:r>
          </a:p>
        </p:txBody>
      </p:sp>
    </p:spTree>
    <p:extLst>
      <p:ext uri="{BB962C8B-B14F-4D97-AF65-F5344CB8AC3E}">
        <p14:creationId xmlns:p14="http://schemas.microsoft.com/office/powerpoint/2010/main" val="6842299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_componente">
            <a:extLst>
              <a:ext uri="{FF2B5EF4-FFF2-40B4-BE49-F238E27FC236}">
                <a16:creationId xmlns:a16="http://schemas.microsoft.com/office/drawing/2014/main" id="{5F8A268F-DF04-2C6F-1AF7-579F8D46FDD0}"/>
              </a:ext>
            </a:extLst>
          </p:cNvPr>
          <p:cNvSpPr txBox="1"/>
          <p:nvPr/>
        </p:nvSpPr>
        <p:spPr>
          <a:xfrm>
            <a:off x="870768" y="2822078"/>
            <a:ext cx="7816645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Esse Ebook foi gerado por IA, e diagramado por humano.</a:t>
            </a:r>
            <a:br>
              <a:rPr lang="pt-BR" sz="2400" dirty="0"/>
            </a:br>
            <a:r>
              <a:rPr lang="pt-BR" sz="2400" dirty="0"/>
              <a:t>O passo a passo se encontra no meu </a:t>
            </a:r>
            <a:r>
              <a:rPr lang="pt-BR" sz="2400" dirty="0" err="1"/>
              <a:t>Github</a:t>
            </a:r>
            <a:endParaRPr lang="pt-BR" sz="2400" dirty="0"/>
          </a:p>
          <a:p>
            <a:pPr algn="ctr"/>
            <a:r>
              <a:rPr lang="pt-BR" sz="4400" dirty="0"/>
              <a:t>.</a:t>
            </a:r>
            <a:br>
              <a:rPr lang="pt-BR" sz="2400" dirty="0"/>
            </a:br>
            <a:r>
              <a:rPr lang="pt-BR" sz="2400" dirty="0"/>
              <a:t>Esse conteúdo foi gerado com fins didáticos de construção, não foi realizado uma validação cuidadosa humana no conteúdo e pode conter erros gerados por uma IA.</a:t>
            </a:r>
          </a:p>
        </p:txBody>
      </p:sp>
      <p:sp>
        <p:nvSpPr>
          <p:cNvPr id="3" name="titulo_componente">
            <a:extLst>
              <a:ext uri="{FF2B5EF4-FFF2-40B4-BE49-F238E27FC236}">
                <a16:creationId xmlns:a16="http://schemas.microsoft.com/office/drawing/2014/main" id="{26767187-6DF7-80A9-F3B9-FCD72DDF717D}"/>
              </a:ext>
            </a:extLst>
          </p:cNvPr>
          <p:cNvSpPr txBox="1"/>
          <p:nvPr/>
        </p:nvSpPr>
        <p:spPr>
          <a:xfrm>
            <a:off x="2269438" y="777781"/>
            <a:ext cx="83027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>
                <a:latin typeface="Impact" panose="020B0806030902050204" pitchFamily="34" charset="0"/>
              </a:rPr>
              <a:t>OBRIGADO POR LER ATÉ AQUI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3548456-7C95-80DE-D379-01E177977A3D}"/>
              </a:ext>
            </a:extLst>
          </p:cNvPr>
          <p:cNvSpPr/>
          <p:nvPr/>
        </p:nvSpPr>
        <p:spPr>
          <a:xfrm>
            <a:off x="651281" y="-216344"/>
            <a:ext cx="144000" cy="1512000"/>
          </a:xfrm>
          <a:prstGeom prst="rect">
            <a:avLst/>
          </a:prstGeom>
          <a:gradFill flip="none" rotWithShape="1">
            <a:gsLst>
              <a:gs pos="0">
                <a:srgbClr val="11FFFE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rgbClr val="36ABFF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Espaço Reservado para Rodapé 10">
            <a:extLst>
              <a:ext uri="{FF2B5EF4-FFF2-40B4-BE49-F238E27FC236}">
                <a16:creationId xmlns:a16="http://schemas.microsoft.com/office/drawing/2014/main" id="{4B80E3D0-EEFE-5ED5-3B8A-29C7805C8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INFORMÁTICA BÁSICA</a:t>
            </a:r>
            <a:endParaRPr lang="pt-BR" dirty="0"/>
          </a:p>
        </p:txBody>
      </p:sp>
      <p:sp>
        <p:nvSpPr>
          <p:cNvPr id="12" name="Espaço Reservado para Número de Slide 11">
            <a:extLst>
              <a:ext uri="{FF2B5EF4-FFF2-40B4-BE49-F238E27FC236}">
                <a16:creationId xmlns:a16="http://schemas.microsoft.com/office/drawing/2014/main" id="{5194B7CE-3343-6082-D5FE-370D98CAE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14</a:t>
            </a:fld>
            <a:endParaRPr lang="pt-BR"/>
          </a:p>
        </p:txBody>
      </p:sp>
      <p:sp>
        <p:nvSpPr>
          <p:cNvPr id="8" name="Retângulo 7">
            <a:hlinkClick r:id="rId2"/>
            <a:extLst>
              <a:ext uri="{FF2B5EF4-FFF2-40B4-BE49-F238E27FC236}">
                <a16:creationId xmlns:a16="http://schemas.microsoft.com/office/drawing/2014/main" id="{300835EE-A170-C4AE-5EE7-9322E1BA6163}"/>
              </a:ext>
            </a:extLst>
          </p:cNvPr>
          <p:cNvSpPr/>
          <p:nvPr/>
        </p:nvSpPr>
        <p:spPr>
          <a:xfrm>
            <a:off x="870768" y="7097501"/>
            <a:ext cx="7562940" cy="64643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tx1"/>
                </a:solidFill>
              </a:rPr>
              <a:t>https://github.com/leoaugustofp-oss/prompts-recipe-to-create-a-ebook</a:t>
            </a:r>
          </a:p>
        </p:txBody>
      </p:sp>
      <p:pic>
        <p:nvPicPr>
          <p:cNvPr id="1026" name="Picture 2" descr="GitHub Logos and Usage · GitHub">
            <a:extLst>
              <a:ext uri="{FF2B5EF4-FFF2-40B4-BE49-F238E27FC236}">
                <a16:creationId xmlns:a16="http://schemas.microsoft.com/office/drawing/2014/main" id="{1EF46656-CC8F-7EC9-456E-5D0A6CD02B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3953" y="5587726"/>
            <a:ext cx="1676570" cy="1676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049521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205</TotalTime>
  <Words>785</Words>
  <Application>Microsoft Office PowerPoint</Application>
  <PresentationFormat>Papel A3 (297 x 420 mm)</PresentationFormat>
  <Paragraphs>61</Paragraphs>
  <Slides>14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Data 70</vt:lpstr>
      <vt:lpstr>Impact</vt:lpstr>
      <vt:lpstr>Tema do Office</vt:lpstr>
      <vt:lpstr>Apresentação do PowerPoint</vt:lpstr>
      <vt:lpstr>Apresentação do PowerPoint</vt:lpstr>
      <vt:lpstr>O computador é a "cabeça" de toda a operação. É a máquina que processa informações. </vt:lpstr>
      <vt:lpstr>Explicação Simples: É como uma super calculadora que também pode escrever, desenhar, tocar música e se conectar com o mundo. Exemplo de Uso: Você usa um computador para escrever um e-mail (usando o teclado), ver um vídeo (usando o monitor) ou fazer uma planilha de gastos. Tipos Comuns: Desktop: O computador de mesa (com gabinete, monitor e teclado separados).Notebook/Laptop: O computador portátil que você pode levar para qualquer lugar.</vt:lpstr>
      <vt:lpstr>Hardware é toda a parte física do computador, aquilo que você consegue tocar.</vt:lpstr>
      <vt:lpstr>Explicação Simples: São os "tijolos" e as "peças" do computador. Se cair no chão, é hardware!Exemplos de Uso:Monitor: A tela onde você vê este texto (o "olho" do computador).Teclado: Onde você digita uma mensagem (a "caneta").Mouse: O dispositivo que você usa para clicar em links e movimentar a seta na tela (o "apontador").Processador (CPU): O "cérebro" dentro do computador que faz todos os cálculos e toma as decisões.</vt:lpstr>
      <vt:lpstr>Software é a parte lógica, ou seja, os programas e as instruções que dizem ao hardware o que fazer. Você não pode tocar no software, mas pode usá-lo.</vt:lpstr>
      <vt:lpstr>Explicação Simples: São as "receitas" e os "livros de instruções" que o computador lê para funcionar ou executar tarefas específicas.Exemplos de Uso:Sistema Operacional (SO): O software principal, como o Windows, macOS ou Android. Ele gerencia tudo. Exemplo: Quando você liga o computador e vê a área de trabalho, é o Sistema Operacional trabalhando.Aplicativos/Programas: Softwares específicos para tarefas. Exemplo: O Google Chrome para navegar na internet, o Word para escrever documentos ou o WhatsApp para enviar mensagens.</vt:lpstr>
      <vt:lpstr>A internet é uma rede global que conecta bilhões de computadores e dispositivos.</vt:lpstr>
      <vt:lpstr>Explicação Simples: É uma "estrada gigante" que liga seu computador a qualquer outro no mundo.Exemplos de Uso:Navegar (acessar sites): Pesquisar a previsão do tempo em um site de notícias.E-mail: Enviar uma foto para um amigo que está em outro país.Redes Sociais: Ver as fotos da sua família no Instagram ou Facebook.</vt:lpstr>
      <vt:lpstr>Arquivos são onde as informações são guardadas. Pastas são usadas para organizar esses arquivos.</vt:lpstr>
      <vt:lpstr>Explicação Simples: O arquivo é como um documento (uma carta, uma foto, uma música) e a pasta é como um envelope ou um armário onde você guarda vários documentos relacionados.Exemplos de Uso:Arquivo: A foto que você tirou no celular (.jpg) ou o texto que você digitou (.docx).Pasta: Criar uma pasta chamada "Viagem 2025" e guardar dentro dela todos os arquivos de fotos e orçamentos da viagem.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Dexter Digital - informatica basica</dc:title>
  <dc:creator>Leonardo Augusto</dc:creator>
  <cp:lastModifiedBy>Leonardo Augusto</cp:lastModifiedBy>
  <cp:revision>2</cp:revision>
  <dcterms:created xsi:type="dcterms:W3CDTF">2025-10-22T00:38:28Z</dcterms:created>
  <dcterms:modified xsi:type="dcterms:W3CDTF">2025-10-22T04:04:14Z</dcterms:modified>
</cp:coreProperties>
</file>